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86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9144000" cy="128016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4" name="Image 0" descr="logo_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98448"/>
            <a:ext cx="1481328" cy="1225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798064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지역사회가 함께하는 감정노동존중 '부천다움'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2648" y="3145536"/>
            <a:ext cx="79552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제안서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     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41148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14:30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462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념 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360" y="446227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16:00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0974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7360" y="480974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2303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부천시일쉼지원센터 다목적실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5815584"/>
            <a:ext cx="9144000" cy="109728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15" name="Shape 12"/>
          <p:cNvSpPr/>
          <p:nvPr/>
        </p:nvSpPr>
        <p:spPr>
          <a:xfrm>
            <a:off x="0" y="5925312"/>
            <a:ext cx="9144000" cy="932688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16" name="Image 1" descr="part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6172200"/>
            <a:ext cx="576072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2025년, 이렇게 함께했습니다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최초로 지역 거버넌스 기반 감정노동 존중주간을 선포하고 운영했습니다.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15768" y="192024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기관·단체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15768" y="2231136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공동캠페인 참여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17904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4800600" y="1755648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5,570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922008" y="192024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· 31회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22008" y="2231136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포럼·기념식·주간 캠페인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715768" y="354787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15768" y="385876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 전달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4800600" y="3383280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10,700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922008" y="354787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 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22008" y="385876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도달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04088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현수막 · 배너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부천시내 21개소 게첨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3419856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리플렛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9856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2,755부 배포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34456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6135624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인식개선 홍보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35624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52회 · 약 4,000명 도달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82021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공동주관  부천상공회의소 · 부천시일쉼지원센터 · </a:t>
            </a:r>
            <a:r>
              <a:rPr lang="en-US" sz="10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한국노총</a:t>
            </a: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부천김포지역지부</a:t>
            </a: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 공동운영 17개 기관, 노사공동 참여 4개 기관 및 노동조합 4곳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2026년인가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법·현실·정책이 같은 곳을 가리키고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2376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보호법 시행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10월 18일 시행된 산업안전보건법 제41조가 2026년 10월 만 8년을 맞습니다. 사업주에게 문구 게시·매뉴얼·교육 의무가 있습니다.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3218688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3218688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38144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감정부조화 위험 수준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38144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부천지역 감정노동 실태조사에서 확인된 비율입니다. 보호체계는 아직 충분하지 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34456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5934456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5934456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국정과제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53912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갑질 없는 행복한 일터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53912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정부는 감정노동 보호 대상 확대와 조치 강화를 세부 과제로 선정했습니다. 감정노동을 사회적 안전의 문제로 보고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8138160" cy="914400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822960" y="499262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사람 둘 가운데 한 명이 감정노동자인 '감정노동사회'입니다.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시민은 감정노동의 수행자이자 대상자이며 목격자입니다. 그래서 문제 해결의 주체이기도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부천다움, 어디까지 왔나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세 기관의 업무협약에서 시작해 도시의 약속이 되었습니다.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1170432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758952" y="1517904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1865376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존중을 '당연한 가치'로 만들어가는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부천의 다양한 움직임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17043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965192" y="1517904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865376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존중을 실천하는 부천 시민의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성숙한 시민의식과 품격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8138160" cy="18288"/>
          </a:xfrm>
          <a:prstGeom prst="rect">
            <a:avLst/>
          </a:prstGeom>
          <a:solidFill>
            <a:srgbClr val="D6CCE8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8136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02920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2022. 9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업무협약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지원과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문화확산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44191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58975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58975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인식조사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58975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실태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파악의 첫 단계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00246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3215030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 3~4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15030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실태조사·선포식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15030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출범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1,368명)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56302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4571086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2024.9~2025.9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1086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개발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1086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시민행동지침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자문·감수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12357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5927141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27141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첫 운영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27141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28개 기관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9명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8412" y="3310128"/>
            <a:ext cx="192024" cy="192024"/>
          </a:xfrm>
          <a:prstGeom prst="ellipse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7283196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83196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제2회 존중주간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83196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 사업장으로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확대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4956048"/>
            <a:ext cx="8138160" cy="804672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822960" y="5065776"/>
            <a:ext cx="74980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</a:t>
            </a:r>
            <a:r>
              <a:rPr 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시민의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해, 2024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 </a:t>
            </a:r>
            <a:r>
              <a:rPr lang="ko-KR" alt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</a:t>
            </a:r>
            <a:r>
              <a:rPr lang="ko-KR" alt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</a:t>
            </a:r>
            <a:endParaRPr lang="en-US" altLang="ko-KR" sz="1250" b="1" dirty="0">
              <a:solidFill>
                <a:srgbClr val="4B2E8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2026년에는 ‘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지역</a:t>
            </a:r>
            <a:r>
              <a:rPr 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문화로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확산시키고자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감정노동 존중주간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포럼과 기념식으로 문을 열고, 한 주간 지역 곳곳에서 존중의 움직임이 이어졌습니다.</a:t>
            </a:r>
            <a:endParaRPr lang="en-US" sz="1150" dirty="0"/>
          </a:p>
        </p:txBody>
      </p:sp>
      <p:pic>
        <p:nvPicPr>
          <p:cNvPr id="7" name="Image 0" descr="p_for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2523744" cy="1682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포럼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실태 </a:t>
            </a: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발제·토론</a:t>
            </a:r>
            <a:endParaRPr lang="en-US" sz="900" dirty="0"/>
          </a:p>
        </p:txBody>
      </p:sp>
      <p:pic>
        <p:nvPicPr>
          <p:cNvPr id="9" name="Image 1" descr="p_ceremon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371600"/>
            <a:ext cx="2523744" cy="1682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18688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기념식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공동 </a:t>
            </a: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선포</a:t>
            </a: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900" dirty="0"/>
          </a:p>
        </p:txBody>
      </p:sp>
      <p:pic>
        <p:nvPicPr>
          <p:cNvPr id="11" name="Image 2" descr="p_aw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1371600"/>
            <a:ext cx="2523744" cy="1682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34456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감정노동자가 추천한 시민 9명</a:t>
            </a:r>
            <a:endParaRPr lang="en-US" sz="900" dirty="0"/>
          </a:p>
        </p:txBody>
      </p:sp>
      <p:pic>
        <p:nvPicPr>
          <p:cNvPr id="13" name="Image 3" descr="p_per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57600"/>
            <a:ext cx="2523744" cy="16824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선포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존중시민·부천다움</a:t>
            </a:r>
            <a:endParaRPr lang="en-US" sz="900" dirty="0"/>
          </a:p>
        </p:txBody>
      </p:sp>
      <p:pic>
        <p:nvPicPr>
          <p:cNvPr id="15" name="Image 4" descr="p_labo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3657600"/>
            <a:ext cx="2523744" cy="16824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18688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참여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출자출연기관 4곳 노사 공동</a:t>
            </a:r>
            <a:endParaRPr lang="en-US" sz="900" dirty="0"/>
          </a:p>
        </p:txBody>
      </p:sp>
      <p:pic>
        <p:nvPicPr>
          <p:cNvPr id="17" name="Image 5" descr="p_campaig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456" y="3657600"/>
            <a:ext cx="2523744" cy="16824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934456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캠페인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부천시청 (10.21)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개요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(부천다움 주간)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502920" y="246888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6888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부천시일쉼지원센터 다목적실 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 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01752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부천시민, 업무협약 기관 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078992" cy="64008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502920" y="3566160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566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부천상공회의소 · 부천시일쉼지원센터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한국노총 부천김포지역지부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1078992" cy="64008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2920" y="4279392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 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279392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2022.9 업무협약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산업안전보건법 제41조 시행 8주년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4983480" y="14904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포럼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14:30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204825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/>
              <a:t>감정노동과 </a:t>
            </a:r>
            <a:r>
              <a:rPr lang="ko-KR" altLang="en-US" sz="1000" dirty="0" err="1"/>
              <a:t>부천시민다움</a:t>
            </a:r>
            <a:r>
              <a:rPr lang="ko-KR" altLang="en-US" sz="1000" dirty="0"/>
              <a:t> </a:t>
            </a:r>
            <a:r>
              <a:rPr lang="en-US" altLang="ko-KR" sz="1000" dirty="0"/>
              <a:t>– </a:t>
            </a:r>
            <a:r>
              <a:rPr lang="ko-KR" altLang="en-US" sz="1000" dirty="0"/>
              <a:t>왜 존중시민인가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578608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983480" y="2697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념 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16:00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83480" y="325526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공동 선포, 존중시민 감사장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785616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983480" y="39044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운영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419709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83480" y="44622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공동 캠페인 온·오프라인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51206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실적 28개 기관 · 31회 · 5,570명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2026년에는 민간 사업장으로 참여를 넓힙니다.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참여합니다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기관의 상황과 여건에 따라 </a:t>
            </a:r>
            <a:r>
              <a:rPr lang="ko-KR" altLang="en-US" sz="115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참여하실수</a:t>
            </a:r>
            <a:r>
              <a:rPr lang="ko-KR" alt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있습니다</a:t>
            </a:r>
            <a:r>
              <a:rPr lang="en-US" altLang="ko-KR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함께해주실 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502920" y="177393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" y="17465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안내문 게시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현수막 · 알림판 · 홈페이지 · SNS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응원메시지 게시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대표 또는 노사 공동 명의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502920" y="312724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97280" y="309981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리플렛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청소년용 </a:t>
            </a:r>
            <a:r>
              <a:rPr lang="ko-KR" alt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</a:t>
            </a: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 창구 · 방문객 대상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803904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502920" y="380390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37764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발굴 및 추천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5993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본인 또는 소속 기관이 추천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97280" y="44531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자체 교육 · 이벤트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7365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교육, 응원의 날 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157216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502920" y="515721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" y="512978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캠페인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4132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노측 · 사측 공동 진행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1316736"/>
            <a:ext cx="3931920" cy="4389120"/>
          </a:xfrm>
          <a:prstGeom prst="rect">
            <a:avLst/>
          </a:prstGeom>
          <a:solidFill>
            <a:srgbClr val="F2EEF8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31"/>
          <p:cNvSpPr/>
          <p:nvPr/>
        </p:nvSpPr>
        <p:spPr>
          <a:xfrm>
            <a:off x="4983480" y="153619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센터가 지원합니다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83480" y="2048256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4983480" y="204825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20208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리플렛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77840" y="2304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수량만큼 제공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2907792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4983480" y="2907792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2880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스티커 · 배너 · 현수막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31638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내 제작 지원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83480" y="3767328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4983480" y="376732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77840" y="37398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캠페인 홍보물품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4023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 극세사 수건 등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4626864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4983480" y="462686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77840" y="45994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 (액자형)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577840" y="48828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1~2명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83480" y="535838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2026년 지원 수량은 예산 확정 후 안내드립니다.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안내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코드 한 번이면 참여기관 신청과 존중시민 추천을 함께 하실 수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108960" cy="379476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pic>
        <p:nvPicPr>
          <p:cNvPr id="8" name="Image 0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201168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5876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신청 · 존중시민 추천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1513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respect-week.vercel.app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032-323-1203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77640" y="1435608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3977640" y="14356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98848" y="1417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신청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8848" y="16916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기관명 · 담당자 · 기관 구분을 등록합니다.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77640" y="2221992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3977640" y="22219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98848" y="22037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참여내용 제출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8848" y="24780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제작물 신청 수량과 자체 활동 계획을 알려주세요.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77640" y="3008376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1" name="Text 18"/>
          <p:cNvSpPr/>
          <p:nvPr/>
        </p:nvSpPr>
        <p:spPr>
          <a:xfrm>
            <a:off x="3977640" y="30083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498848" y="29900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제작물 배송 및 안내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498848" y="32644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신청하신 제작물과 캠페인 자료를 보내드립니다.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977640" y="3794760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5" name="Text 22"/>
          <p:cNvSpPr/>
          <p:nvPr/>
        </p:nvSpPr>
        <p:spPr>
          <a:xfrm>
            <a:off x="3977640" y="3794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498848" y="37764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운영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498848" y="4050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10.15~21. 기관별로 캠페인을 진행합니다.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977640" y="4581144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9" name="Text 26"/>
          <p:cNvSpPr/>
          <p:nvPr/>
        </p:nvSpPr>
        <p:spPr>
          <a:xfrm>
            <a:off x="3977640" y="45811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498848" y="45628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제출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498848" y="483717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결과는 결과보고서에 수록됩니다.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035040"/>
            <a:ext cx="9144000" cy="100584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3" name="Shape 30"/>
          <p:cNvSpPr/>
          <p:nvPr/>
        </p:nvSpPr>
        <p:spPr>
          <a:xfrm>
            <a:off x="0" y="6135624"/>
            <a:ext cx="9144000" cy="722376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34" name="Image 1" descr="part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6327648"/>
            <a:ext cx="4572000" cy="344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764</Words>
  <Application>Microsoft Office PowerPoint</Application>
  <PresentationFormat>화면 슬라이드 쇼(4:3)</PresentationFormat>
  <Paragraphs>180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김숙희</cp:lastModifiedBy>
  <cp:revision>4</cp:revision>
  <dcterms:created xsi:type="dcterms:W3CDTF">2026-08-19T04:23:30Z</dcterms:created>
  <dcterms:modified xsi:type="dcterms:W3CDTF">2026-09-04T00:35:31Z</dcterms:modified>
</cp:coreProperties>
</file>