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317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368654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jpg"/><Relationship Id="rId3" Type="http://schemas.openxmlformats.org/officeDocument/2006/relationships/image" Target="../media/image3.jpg"/><Relationship Id="rId7" Type="http://schemas.openxmlformats.org/officeDocument/2006/relationships/image" Target="../media/image7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jpg"/><Relationship Id="rId5" Type="http://schemas.openxmlformats.org/officeDocument/2006/relationships/image" Target="../media/image5.jpg"/><Relationship Id="rId4" Type="http://schemas.openxmlformats.org/officeDocument/2006/relationships/image" Target="../media/image4.jp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55448"/>
          </a:xfrm>
          <a:prstGeom prst="rect">
            <a:avLst/>
          </a:prstGeom>
          <a:solidFill>
            <a:srgbClr val="0E9C93"/>
          </a:solidFill>
          <a:ln>
            <a:noFill/>
          </a:ln>
        </p:spPr>
      </p:sp>
      <p:sp>
        <p:nvSpPr>
          <p:cNvPr id="3" name="Shape 1"/>
          <p:cNvSpPr/>
          <p:nvPr/>
        </p:nvSpPr>
        <p:spPr>
          <a:xfrm>
            <a:off x="0" y="155448"/>
            <a:ext cx="9144000" cy="128016"/>
          </a:xfrm>
          <a:prstGeom prst="rect">
            <a:avLst/>
          </a:prstGeom>
          <a:solidFill>
            <a:srgbClr val="4B2E83"/>
          </a:solidFill>
          <a:ln>
            <a:noFill/>
          </a:ln>
        </p:spPr>
      </p:sp>
      <p:pic>
        <p:nvPicPr>
          <p:cNvPr id="4" name="Image 0" descr="logo_b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1298448"/>
            <a:ext cx="1481328" cy="122529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2798064"/>
            <a:ext cx="786384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7A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지역사회가 함께하는 감정노동존중 '부천다움'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612648" y="3145536"/>
            <a:ext cx="7955280" cy="676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4B2E8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 감정노동 존중주간 제안서</a:t>
            </a:r>
            <a:endParaRPr lang="en-US" sz="3300" dirty="0"/>
          </a:p>
        </p:txBody>
      </p:sp>
      <p:sp>
        <p:nvSpPr>
          <p:cNvPr id="7" name="Text 4"/>
          <p:cNvSpPr/>
          <p:nvPr/>
        </p:nvSpPr>
        <p:spPr>
          <a:xfrm>
            <a:off x="640080" y="4114800"/>
            <a:ext cx="105156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B2E8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포     럼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737360" y="4114800"/>
            <a:ext cx="475488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1B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2026. 10. 15.(목) 14:30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40080" y="4462272"/>
            <a:ext cx="105156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B2E8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 념 식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737360" y="4462272"/>
            <a:ext cx="475488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1B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2026. 10. 15.(목) 16:00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40080" y="4809744"/>
            <a:ext cx="105156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B2E8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존중주간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1737360" y="4809744"/>
            <a:ext cx="475488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1B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2026. 10. 15.(목) ~ 21.(수)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640080" y="5230368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45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부천시일쉼지원센터 다목적실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0" y="5815584"/>
            <a:ext cx="9144000" cy="109728"/>
          </a:xfrm>
          <a:prstGeom prst="rect">
            <a:avLst/>
          </a:prstGeom>
          <a:solidFill>
            <a:srgbClr val="0E9C93"/>
          </a:solidFill>
          <a:ln>
            <a:noFill/>
          </a:ln>
        </p:spPr>
      </p:sp>
      <p:sp>
        <p:nvSpPr>
          <p:cNvPr id="15" name="Shape 12"/>
          <p:cNvSpPr/>
          <p:nvPr/>
        </p:nvSpPr>
        <p:spPr>
          <a:xfrm>
            <a:off x="0" y="5925312"/>
            <a:ext cx="9144000" cy="932688"/>
          </a:xfrm>
          <a:prstGeom prst="rect">
            <a:avLst/>
          </a:prstGeom>
          <a:solidFill>
            <a:srgbClr val="4B2E83"/>
          </a:solidFill>
          <a:ln>
            <a:noFill/>
          </a:ln>
        </p:spPr>
      </p:sp>
      <p:pic>
        <p:nvPicPr>
          <p:cNvPr id="16" name="Image 1" descr="partner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91640" y="6172200"/>
            <a:ext cx="5760720" cy="4343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"/>
          </a:xfrm>
          <a:prstGeom prst="rect">
            <a:avLst/>
          </a:prstGeom>
          <a:solidFill>
            <a:srgbClr val="0E9C93"/>
          </a:solidFill>
          <a:ln>
            <a:noFill/>
          </a:ln>
        </p:spPr>
      </p:sp>
      <p:sp>
        <p:nvSpPr>
          <p:cNvPr id="3" name="Shape 1"/>
          <p:cNvSpPr/>
          <p:nvPr/>
        </p:nvSpPr>
        <p:spPr>
          <a:xfrm>
            <a:off x="0" y="118872"/>
            <a:ext cx="9144000" cy="91440"/>
          </a:xfrm>
          <a:prstGeom prst="rect">
            <a:avLst/>
          </a:prstGeom>
          <a:solidFill>
            <a:srgbClr val="4B2E83"/>
          </a:solidFill>
          <a:ln>
            <a:noFill/>
          </a:ln>
        </p:spPr>
      </p:sp>
      <p:sp>
        <p:nvSpPr>
          <p:cNvPr id="4" name="Shape 2"/>
          <p:cNvSpPr/>
          <p:nvPr/>
        </p:nvSpPr>
        <p:spPr>
          <a:xfrm>
            <a:off x="502920" y="475488"/>
            <a:ext cx="64008" cy="283464"/>
          </a:xfrm>
          <a:prstGeom prst="rect">
            <a:avLst/>
          </a:prstGeom>
          <a:solidFill>
            <a:srgbClr val="0B7A73"/>
          </a:solidFill>
          <a:ln>
            <a:noFill/>
          </a:ln>
        </p:spPr>
      </p:sp>
      <p:sp>
        <p:nvSpPr>
          <p:cNvPr id="5" name="Text 3"/>
          <p:cNvSpPr/>
          <p:nvPr/>
        </p:nvSpPr>
        <p:spPr>
          <a:xfrm>
            <a:off x="658368" y="420624"/>
            <a:ext cx="804672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4B2E8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2025년, 이렇게 함께했습니다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658368" y="822960"/>
            <a:ext cx="80467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45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전국 최초로 지역 거버넌스 기반 감정노동 존중주간을 선포하고 운영했습니다.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02920" y="1517904"/>
            <a:ext cx="3931920" cy="1481328"/>
          </a:xfrm>
          <a:prstGeom prst="rect">
            <a:avLst/>
          </a:prstGeom>
          <a:solidFill>
            <a:srgbClr val="F2EEF8"/>
          </a:solidFill>
          <a:ln>
            <a:noFill/>
          </a:ln>
        </p:spPr>
      </p:sp>
      <p:sp>
        <p:nvSpPr>
          <p:cNvPr id="8" name="Text 6"/>
          <p:cNvSpPr/>
          <p:nvPr/>
        </p:nvSpPr>
        <p:spPr>
          <a:xfrm>
            <a:off x="594360" y="1755648"/>
            <a:ext cx="2057400" cy="96926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4B2E8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28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2715768" y="1920240"/>
            <a:ext cx="160020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E1A5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 기관·단체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2715768" y="2231136"/>
            <a:ext cx="16002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4A45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공동캠페인 참여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709160" y="1517904"/>
            <a:ext cx="3931920" cy="1481328"/>
          </a:xfrm>
          <a:prstGeom prst="rect">
            <a:avLst/>
          </a:prstGeom>
          <a:solidFill>
            <a:srgbClr val="F2EEF8"/>
          </a:solidFill>
          <a:ln>
            <a:noFill/>
          </a:ln>
        </p:spPr>
      </p:sp>
      <p:sp>
        <p:nvSpPr>
          <p:cNvPr id="12" name="Text 10"/>
          <p:cNvSpPr/>
          <p:nvPr/>
        </p:nvSpPr>
        <p:spPr>
          <a:xfrm>
            <a:off x="4800600" y="1755648"/>
            <a:ext cx="2057400" cy="96926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100" b="1" dirty="0">
                <a:solidFill>
                  <a:srgbClr val="4B2E8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5,570</a:t>
            </a:r>
            <a:endParaRPr lang="en-US" sz="3100" dirty="0"/>
          </a:p>
        </p:txBody>
      </p:sp>
      <p:sp>
        <p:nvSpPr>
          <p:cNvPr id="13" name="Text 11"/>
          <p:cNvSpPr/>
          <p:nvPr/>
        </p:nvSpPr>
        <p:spPr>
          <a:xfrm>
            <a:off x="6922008" y="1920240"/>
            <a:ext cx="160020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E1A5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명 · 31회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922008" y="2231136"/>
            <a:ext cx="16002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4A45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포럼·기념식·주간 캠페인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02920" y="3145536"/>
            <a:ext cx="3931920" cy="1481328"/>
          </a:xfrm>
          <a:prstGeom prst="rect">
            <a:avLst/>
          </a:prstGeom>
          <a:solidFill>
            <a:srgbClr val="F2EEF8"/>
          </a:solidFill>
          <a:ln>
            <a:noFill/>
          </a:ln>
        </p:spPr>
      </p:sp>
      <p:sp>
        <p:nvSpPr>
          <p:cNvPr id="16" name="Text 14"/>
          <p:cNvSpPr/>
          <p:nvPr/>
        </p:nvSpPr>
        <p:spPr>
          <a:xfrm>
            <a:off x="594360" y="3383280"/>
            <a:ext cx="2057400" cy="96926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4B2E8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en-US" sz="4000" dirty="0"/>
          </a:p>
        </p:txBody>
      </p:sp>
      <p:sp>
        <p:nvSpPr>
          <p:cNvPr id="17" name="Text 15"/>
          <p:cNvSpPr/>
          <p:nvPr/>
        </p:nvSpPr>
        <p:spPr>
          <a:xfrm>
            <a:off x="2715768" y="3547872"/>
            <a:ext cx="160020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E1A5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명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2715768" y="3858768"/>
            <a:ext cx="16002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4A45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존중시민 감사장 전달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709160" y="3145536"/>
            <a:ext cx="3931920" cy="1481328"/>
          </a:xfrm>
          <a:prstGeom prst="rect">
            <a:avLst/>
          </a:prstGeom>
          <a:solidFill>
            <a:srgbClr val="F2EEF8"/>
          </a:solidFill>
          <a:ln>
            <a:noFill/>
          </a:ln>
        </p:spPr>
      </p:sp>
      <p:sp>
        <p:nvSpPr>
          <p:cNvPr id="20" name="Text 18"/>
          <p:cNvSpPr/>
          <p:nvPr/>
        </p:nvSpPr>
        <p:spPr>
          <a:xfrm>
            <a:off x="4800600" y="3383280"/>
            <a:ext cx="2057400" cy="96926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100" b="1" dirty="0">
                <a:solidFill>
                  <a:srgbClr val="4B2E8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10,700</a:t>
            </a:r>
            <a:endParaRPr lang="en-US" sz="3100" dirty="0"/>
          </a:p>
        </p:txBody>
      </p:sp>
      <p:sp>
        <p:nvSpPr>
          <p:cNvPr id="21" name="Text 19"/>
          <p:cNvSpPr/>
          <p:nvPr/>
        </p:nvSpPr>
        <p:spPr>
          <a:xfrm>
            <a:off x="6922008" y="3547872"/>
            <a:ext cx="160020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E1A5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 명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922008" y="3858768"/>
            <a:ext cx="16002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4A45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부천시민다움 도달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02920" y="4864608"/>
            <a:ext cx="2523744" cy="896112"/>
          </a:xfrm>
          <a:prstGeom prst="rect">
            <a:avLst/>
          </a:prstGeom>
          <a:solidFill>
            <a:srgbClr val="E4F3F1"/>
          </a:solidFill>
          <a:ln>
            <a:noFill/>
          </a:ln>
        </p:spPr>
      </p:sp>
      <p:sp>
        <p:nvSpPr>
          <p:cNvPr id="24" name="Text 22"/>
          <p:cNvSpPr/>
          <p:nvPr/>
        </p:nvSpPr>
        <p:spPr>
          <a:xfrm>
            <a:off x="704088" y="5010912"/>
            <a:ext cx="219456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7A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현수막 · 배너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04088" y="5285232"/>
            <a:ext cx="219456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1B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부천시내 21개소 게첨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3218688" y="4864608"/>
            <a:ext cx="2523744" cy="896112"/>
          </a:xfrm>
          <a:prstGeom prst="rect">
            <a:avLst/>
          </a:prstGeom>
          <a:solidFill>
            <a:srgbClr val="E4F3F1"/>
          </a:solidFill>
          <a:ln>
            <a:noFill/>
          </a:ln>
        </p:spPr>
      </p:sp>
      <p:sp>
        <p:nvSpPr>
          <p:cNvPr id="27" name="Text 25"/>
          <p:cNvSpPr/>
          <p:nvPr/>
        </p:nvSpPr>
        <p:spPr>
          <a:xfrm>
            <a:off x="3419856" y="5010912"/>
            <a:ext cx="219456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7A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부천시민다움 리플렛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419856" y="5285232"/>
            <a:ext cx="219456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1B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2,755부 배포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934456" y="4864608"/>
            <a:ext cx="2523744" cy="896112"/>
          </a:xfrm>
          <a:prstGeom prst="rect">
            <a:avLst/>
          </a:prstGeom>
          <a:solidFill>
            <a:srgbClr val="E4F3F1"/>
          </a:solidFill>
          <a:ln>
            <a:noFill/>
          </a:ln>
        </p:spPr>
      </p:sp>
      <p:sp>
        <p:nvSpPr>
          <p:cNvPr id="30" name="Text 28"/>
          <p:cNvSpPr/>
          <p:nvPr/>
        </p:nvSpPr>
        <p:spPr>
          <a:xfrm>
            <a:off x="6135624" y="5010912"/>
            <a:ext cx="219456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7A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온라인 인식개선 홍보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135624" y="5285232"/>
            <a:ext cx="219456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1B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52회 · 약 4,000명 도달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02920" y="5943600"/>
            <a:ext cx="813816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45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공동주관  부천상공회의소 · 부천시일쉼지원센터 · 한국노총 부천김포지역지부   |   공동운영 17개 기관, 노사공동 참여 4개 기관 및 노동조합 4곳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"/>
          </a:xfrm>
          <a:prstGeom prst="rect">
            <a:avLst/>
          </a:prstGeom>
          <a:solidFill>
            <a:srgbClr val="0E9C93"/>
          </a:solidFill>
          <a:ln>
            <a:noFill/>
          </a:ln>
        </p:spPr>
      </p:sp>
      <p:sp>
        <p:nvSpPr>
          <p:cNvPr id="3" name="Shape 1"/>
          <p:cNvSpPr/>
          <p:nvPr/>
        </p:nvSpPr>
        <p:spPr>
          <a:xfrm>
            <a:off x="0" y="118872"/>
            <a:ext cx="9144000" cy="91440"/>
          </a:xfrm>
          <a:prstGeom prst="rect">
            <a:avLst/>
          </a:prstGeom>
          <a:solidFill>
            <a:srgbClr val="4B2E83"/>
          </a:solidFill>
          <a:ln>
            <a:noFill/>
          </a:ln>
        </p:spPr>
      </p:sp>
      <p:sp>
        <p:nvSpPr>
          <p:cNvPr id="4" name="Shape 2"/>
          <p:cNvSpPr/>
          <p:nvPr/>
        </p:nvSpPr>
        <p:spPr>
          <a:xfrm>
            <a:off x="502920" y="475488"/>
            <a:ext cx="64008" cy="283464"/>
          </a:xfrm>
          <a:prstGeom prst="rect">
            <a:avLst/>
          </a:prstGeom>
          <a:solidFill>
            <a:srgbClr val="0B7A73"/>
          </a:solidFill>
          <a:ln>
            <a:noFill/>
          </a:ln>
        </p:spPr>
      </p:sp>
      <p:sp>
        <p:nvSpPr>
          <p:cNvPr id="5" name="Text 3"/>
          <p:cNvSpPr/>
          <p:nvPr/>
        </p:nvSpPr>
        <p:spPr>
          <a:xfrm>
            <a:off x="658368" y="420624"/>
            <a:ext cx="804672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4B2E8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2026년인가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658368" y="822960"/>
            <a:ext cx="80467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45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법·현실·정책이 같은 곳을 가리키고 있습니다.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02920" y="1444752"/>
            <a:ext cx="2523744" cy="3127248"/>
          </a:xfrm>
          <a:prstGeom prst="rect">
            <a:avLst/>
          </a:prstGeom>
          <a:solidFill>
            <a:srgbClr val="F2EEF8"/>
          </a:solidFill>
          <a:ln>
            <a:noFill/>
          </a:ln>
        </p:spPr>
      </p:sp>
      <p:sp>
        <p:nvSpPr>
          <p:cNvPr id="8" name="Shape 6"/>
          <p:cNvSpPr/>
          <p:nvPr/>
        </p:nvSpPr>
        <p:spPr>
          <a:xfrm>
            <a:off x="502920" y="1444752"/>
            <a:ext cx="2523744" cy="786384"/>
          </a:xfrm>
          <a:prstGeom prst="rect">
            <a:avLst/>
          </a:prstGeom>
          <a:solidFill>
            <a:srgbClr val="4B2E83"/>
          </a:solidFill>
          <a:ln>
            <a:noFill/>
          </a:ln>
        </p:spPr>
      </p:sp>
      <p:sp>
        <p:nvSpPr>
          <p:cNvPr id="9" name="Text 7"/>
          <p:cNvSpPr/>
          <p:nvPr/>
        </p:nvSpPr>
        <p:spPr>
          <a:xfrm>
            <a:off x="502920" y="1463040"/>
            <a:ext cx="2523744" cy="7498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8주년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722376" y="2377440"/>
            <a:ext cx="210312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1A5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감정노동자 보호법 시행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22376" y="2724912"/>
            <a:ext cx="2103120" cy="1691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4A45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2018년 10월 18일 시행된 산업안전보건법 제41조가 2026년 10월 만 8년을 맞습니다. 사업주에게 문구 게시·매뉴얼·교육 의무가 있습니다.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218688" y="1444752"/>
            <a:ext cx="2523744" cy="3127248"/>
          </a:xfrm>
          <a:prstGeom prst="rect">
            <a:avLst/>
          </a:prstGeom>
          <a:solidFill>
            <a:srgbClr val="F2EEF8"/>
          </a:solidFill>
          <a:ln>
            <a:noFill/>
          </a:ln>
        </p:spPr>
      </p:sp>
      <p:sp>
        <p:nvSpPr>
          <p:cNvPr id="13" name="Shape 11"/>
          <p:cNvSpPr/>
          <p:nvPr/>
        </p:nvSpPr>
        <p:spPr>
          <a:xfrm>
            <a:off x="3218688" y="1444752"/>
            <a:ext cx="2523744" cy="786384"/>
          </a:xfrm>
          <a:prstGeom prst="rect">
            <a:avLst/>
          </a:prstGeom>
          <a:solidFill>
            <a:srgbClr val="4B2E83"/>
          </a:solidFill>
          <a:ln>
            <a:noFill/>
          </a:ln>
        </p:spPr>
      </p:sp>
      <p:sp>
        <p:nvSpPr>
          <p:cNvPr id="14" name="Text 12"/>
          <p:cNvSpPr/>
          <p:nvPr/>
        </p:nvSpPr>
        <p:spPr>
          <a:xfrm>
            <a:off x="3218688" y="1463040"/>
            <a:ext cx="2523744" cy="7498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92%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3438144" y="2377440"/>
            <a:ext cx="210312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1A5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감정부조화 위험 수준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438144" y="2724912"/>
            <a:ext cx="2103120" cy="1691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4A45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2024년 부천지역 감정노동 실태조사에서 확인된 비율입니다. 보호체계는 아직 충분하지 않습니다.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934456" y="1444752"/>
            <a:ext cx="2523744" cy="3127248"/>
          </a:xfrm>
          <a:prstGeom prst="rect">
            <a:avLst/>
          </a:prstGeom>
          <a:solidFill>
            <a:srgbClr val="F2EEF8"/>
          </a:solidFill>
          <a:ln>
            <a:noFill/>
          </a:ln>
        </p:spPr>
      </p:sp>
      <p:sp>
        <p:nvSpPr>
          <p:cNvPr id="18" name="Shape 16"/>
          <p:cNvSpPr/>
          <p:nvPr/>
        </p:nvSpPr>
        <p:spPr>
          <a:xfrm>
            <a:off x="5934456" y="1444752"/>
            <a:ext cx="2523744" cy="786384"/>
          </a:xfrm>
          <a:prstGeom prst="rect">
            <a:avLst/>
          </a:prstGeom>
          <a:solidFill>
            <a:srgbClr val="4B2E83"/>
          </a:solidFill>
          <a:ln>
            <a:noFill/>
          </a:ln>
        </p:spPr>
      </p:sp>
      <p:sp>
        <p:nvSpPr>
          <p:cNvPr id="19" name="Text 17"/>
          <p:cNvSpPr/>
          <p:nvPr/>
        </p:nvSpPr>
        <p:spPr>
          <a:xfrm>
            <a:off x="5934456" y="1463040"/>
            <a:ext cx="2523744" cy="7498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국정과제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153912" y="2377440"/>
            <a:ext cx="210312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1A5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갑질 없는 행복한 일터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153912" y="2724912"/>
            <a:ext cx="2103120" cy="1691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4A45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정부는 감정노동 보호 대상 확대와 조치 강화를 세부 과제로 선정했습니다. 감정노동을 사회적 안전의 문제로 보고 있습니다.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02920" y="4864608"/>
            <a:ext cx="8138160" cy="914400"/>
          </a:xfrm>
          <a:prstGeom prst="rect">
            <a:avLst/>
          </a:prstGeom>
          <a:solidFill>
            <a:srgbClr val="E4F3F1"/>
          </a:solidFill>
          <a:ln>
            <a:noFill/>
          </a:ln>
        </p:spPr>
      </p:sp>
      <p:sp>
        <p:nvSpPr>
          <p:cNvPr id="23" name="Text 21"/>
          <p:cNvSpPr/>
          <p:nvPr/>
        </p:nvSpPr>
        <p:spPr>
          <a:xfrm>
            <a:off x="822960" y="4992624"/>
            <a:ext cx="749808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7A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일하는 사람 둘 가운데 한 명이 감정노동자인 '감정노동사회'입니다.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822960" y="5303520"/>
            <a:ext cx="749808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45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시민은 감정노동의 수행자이자 대상자이며 목격자입니다. 그래서 문제 해결의 주체이기도 합니다.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"/>
          </a:xfrm>
          <a:prstGeom prst="rect">
            <a:avLst/>
          </a:prstGeom>
          <a:solidFill>
            <a:srgbClr val="0E9C93"/>
          </a:solidFill>
          <a:ln>
            <a:noFill/>
          </a:ln>
        </p:spPr>
      </p:sp>
      <p:sp>
        <p:nvSpPr>
          <p:cNvPr id="3" name="Shape 1"/>
          <p:cNvSpPr/>
          <p:nvPr/>
        </p:nvSpPr>
        <p:spPr>
          <a:xfrm>
            <a:off x="0" y="118872"/>
            <a:ext cx="9144000" cy="91440"/>
          </a:xfrm>
          <a:prstGeom prst="rect">
            <a:avLst/>
          </a:prstGeom>
          <a:solidFill>
            <a:srgbClr val="4B2E83"/>
          </a:solidFill>
          <a:ln>
            <a:noFill/>
          </a:ln>
        </p:spPr>
      </p:sp>
      <p:sp>
        <p:nvSpPr>
          <p:cNvPr id="4" name="Shape 2"/>
          <p:cNvSpPr/>
          <p:nvPr/>
        </p:nvSpPr>
        <p:spPr>
          <a:xfrm>
            <a:off x="502920" y="475488"/>
            <a:ext cx="64008" cy="283464"/>
          </a:xfrm>
          <a:prstGeom prst="rect">
            <a:avLst/>
          </a:prstGeom>
          <a:solidFill>
            <a:srgbClr val="0B7A73"/>
          </a:solidFill>
          <a:ln>
            <a:noFill/>
          </a:ln>
        </p:spPr>
      </p:sp>
      <p:sp>
        <p:nvSpPr>
          <p:cNvPr id="5" name="Text 3"/>
          <p:cNvSpPr/>
          <p:nvPr/>
        </p:nvSpPr>
        <p:spPr>
          <a:xfrm>
            <a:off x="658368" y="420624"/>
            <a:ext cx="804672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4B2E8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부천다움, 어디까지 왔나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658368" y="822960"/>
            <a:ext cx="80467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45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2022년 세 기관의 업무협약에서 시작해 도시의 약속이 되었습니다.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02920" y="1371600"/>
            <a:ext cx="3931920" cy="1170432"/>
          </a:xfrm>
          <a:prstGeom prst="rect">
            <a:avLst/>
          </a:prstGeom>
          <a:solidFill>
            <a:srgbClr val="F2EEF8"/>
          </a:solidFill>
          <a:ln>
            <a:noFill/>
          </a:ln>
        </p:spPr>
      </p:sp>
      <p:sp>
        <p:nvSpPr>
          <p:cNvPr id="8" name="Text 6"/>
          <p:cNvSpPr/>
          <p:nvPr/>
        </p:nvSpPr>
        <p:spPr>
          <a:xfrm>
            <a:off x="758952" y="1517904"/>
            <a:ext cx="342900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B2E8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부천다움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58952" y="1865376"/>
            <a:ext cx="3429000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4A45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감정노동 존중을 '당연한 가치'로 만들어가는</a:t>
            </a: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4A45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부천의 다양한 움직임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709160" y="1371600"/>
            <a:ext cx="3931920" cy="1170432"/>
          </a:xfrm>
          <a:prstGeom prst="rect">
            <a:avLst/>
          </a:prstGeom>
          <a:solidFill>
            <a:srgbClr val="E4F3F1"/>
          </a:solidFill>
          <a:ln>
            <a:noFill/>
          </a:ln>
        </p:spPr>
      </p:sp>
      <p:sp>
        <p:nvSpPr>
          <p:cNvPr id="11" name="Text 9"/>
          <p:cNvSpPr/>
          <p:nvPr/>
        </p:nvSpPr>
        <p:spPr>
          <a:xfrm>
            <a:off x="4965192" y="1517904"/>
            <a:ext cx="342900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7A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부천시민다움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965192" y="1865376"/>
            <a:ext cx="3429000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4A45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감정노동 존중을 실천하는 부천 시민의</a:t>
            </a: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4A45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성숙한 시민의식과 품격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02920" y="3401568"/>
            <a:ext cx="8138160" cy="18288"/>
          </a:xfrm>
          <a:prstGeom prst="rect">
            <a:avLst/>
          </a:prstGeom>
          <a:solidFill>
            <a:srgbClr val="D6CCE8"/>
          </a:solidFill>
          <a:ln>
            <a:noFill/>
          </a:ln>
        </p:spPr>
      </p:sp>
      <p:sp>
        <p:nvSpPr>
          <p:cNvPr id="14" name="Shape 12"/>
          <p:cNvSpPr/>
          <p:nvPr/>
        </p:nvSpPr>
        <p:spPr>
          <a:xfrm>
            <a:off x="1088136" y="3310128"/>
            <a:ext cx="192024" cy="192024"/>
          </a:xfrm>
          <a:prstGeom prst="ellipse">
            <a:avLst/>
          </a:prstGeom>
          <a:solidFill>
            <a:srgbClr val="4B2E83"/>
          </a:solidFill>
          <a:ln>
            <a:noFill/>
          </a:ln>
        </p:spPr>
      </p:sp>
      <p:sp>
        <p:nvSpPr>
          <p:cNvPr id="15" name="Text 13"/>
          <p:cNvSpPr/>
          <p:nvPr/>
        </p:nvSpPr>
        <p:spPr>
          <a:xfrm>
            <a:off x="502920" y="2889504"/>
            <a:ext cx="1353312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4B2E8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2022. 9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02920" y="3602736"/>
            <a:ext cx="1353312" cy="4023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F1B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업무협약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02920" y="4041648"/>
            <a:ext cx="1353312" cy="6035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900" dirty="0">
                <a:solidFill>
                  <a:srgbClr val="4A45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감정노동자 지원과</a:t>
            </a:r>
            <a:endParaRPr lang="en-US" sz="900" dirty="0"/>
          </a:p>
          <a:p>
            <a:pPr marL="0" indent="0" algn="ctr">
              <a:lnSpc>
                <a:spcPct val="125000"/>
              </a:lnSpc>
              <a:buNone/>
            </a:pPr>
            <a:r>
              <a:rPr lang="en-US" sz="900" dirty="0">
                <a:solidFill>
                  <a:srgbClr val="4A45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ESG 문화확산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444191" y="3310128"/>
            <a:ext cx="192024" cy="192024"/>
          </a:xfrm>
          <a:prstGeom prst="ellipse">
            <a:avLst/>
          </a:prstGeom>
          <a:solidFill>
            <a:srgbClr val="4B2E83"/>
          </a:solidFill>
          <a:ln>
            <a:noFill/>
          </a:ln>
        </p:spPr>
      </p:sp>
      <p:sp>
        <p:nvSpPr>
          <p:cNvPr id="19" name="Text 17"/>
          <p:cNvSpPr/>
          <p:nvPr/>
        </p:nvSpPr>
        <p:spPr>
          <a:xfrm>
            <a:off x="1858975" y="2889504"/>
            <a:ext cx="1353312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4B2E8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2023. 8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1858975" y="3602736"/>
            <a:ext cx="1353312" cy="4023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F1B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ESG 인식조사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1858975" y="4041648"/>
            <a:ext cx="1353312" cy="6035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900" dirty="0">
                <a:solidFill>
                  <a:srgbClr val="4A45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감정노동 실태</a:t>
            </a:r>
            <a:endParaRPr lang="en-US" sz="900" dirty="0"/>
          </a:p>
          <a:p>
            <a:pPr marL="0" indent="0" algn="ctr">
              <a:lnSpc>
                <a:spcPct val="125000"/>
              </a:lnSpc>
              <a:buNone/>
            </a:pPr>
            <a:r>
              <a:rPr lang="en-US" sz="900" dirty="0">
                <a:solidFill>
                  <a:srgbClr val="4A45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파악의 첫 단계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800246" y="3310128"/>
            <a:ext cx="192024" cy="192024"/>
          </a:xfrm>
          <a:prstGeom prst="ellipse">
            <a:avLst/>
          </a:prstGeom>
          <a:solidFill>
            <a:srgbClr val="4B2E83"/>
          </a:solidFill>
          <a:ln>
            <a:noFill/>
          </a:ln>
        </p:spPr>
      </p:sp>
      <p:sp>
        <p:nvSpPr>
          <p:cNvPr id="23" name="Text 21"/>
          <p:cNvSpPr/>
          <p:nvPr/>
        </p:nvSpPr>
        <p:spPr>
          <a:xfrm>
            <a:off x="3215030" y="2889504"/>
            <a:ext cx="1353312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4B2E8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2024. 3~4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215030" y="3602736"/>
            <a:ext cx="1353312" cy="4023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F1B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실태조사·선포식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3215030" y="4041648"/>
            <a:ext cx="1353312" cy="6035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900" dirty="0">
                <a:solidFill>
                  <a:srgbClr val="4A45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부천다움 출범</a:t>
            </a:r>
            <a:endParaRPr lang="en-US" sz="900" dirty="0"/>
          </a:p>
          <a:p>
            <a:pPr marL="0" indent="0" algn="ctr">
              <a:lnSpc>
                <a:spcPct val="125000"/>
              </a:lnSpc>
              <a:buNone/>
            </a:pPr>
            <a:r>
              <a:rPr lang="en-US" sz="900" dirty="0">
                <a:solidFill>
                  <a:srgbClr val="4A45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(응답 1,368명)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156302" y="3310128"/>
            <a:ext cx="192024" cy="192024"/>
          </a:xfrm>
          <a:prstGeom prst="ellipse">
            <a:avLst/>
          </a:prstGeom>
          <a:solidFill>
            <a:srgbClr val="4B2E83"/>
          </a:solidFill>
          <a:ln>
            <a:noFill/>
          </a:ln>
        </p:spPr>
      </p:sp>
      <p:sp>
        <p:nvSpPr>
          <p:cNvPr id="27" name="Text 25"/>
          <p:cNvSpPr/>
          <p:nvPr/>
        </p:nvSpPr>
        <p:spPr>
          <a:xfrm>
            <a:off x="4571086" y="2889504"/>
            <a:ext cx="1353312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4B2E8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2024.9~2025.9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571086" y="3602736"/>
            <a:ext cx="1353312" cy="4023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F1B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부천시민다움 개발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571086" y="4041648"/>
            <a:ext cx="1353312" cy="6035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900" dirty="0">
                <a:solidFill>
                  <a:srgbClr val="4A45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시민행동지침</a:t>
            </a:r>
            <a:endParaRPr lang="en-US" sz="900" dirty="0"/>
          </a:p>
          <a:p>
            <a:pPr marL="0" indent="0" algn="ctr">
              <a:lnSpc>
                <a:spcPct val="125000"/>
              </a:lnSpc>
              <a:buNone/>
            </a:pPr>
            <a:r>
              <a:rPr lang="en-US" sz="900" dirty="0">
                <a:solidFill>
                  <a:srgbClr val="4A45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전문가 자문·감수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512357" y="3310128"/>
            <a:ext cx="192024" cy="192024"/>
          </a:xfrm>
          <a:prstGeom prst="ellipse">
            <a:avLst/>
          </a:prstGeom>
          <a:solidFill>
            <a:srgbClr val="4B2E83"/>
          </a:solidFill>
          <a:ln>
            <a:noFill/>
          </a:ln>
        </p:spPr>
      </p:sp>
      <p:sp>
        <p:nvSpPr>
          <p:cNvPr id="31" name="Text 29"/>
          <p:cNvSpPr/>
          <p:nvPr/>
        </p:nvSpPr>
        <p:spPr>
          <a:xfrm>
            <a:off x="5927141" y="2889504"/>
            <a:ext cx="1353312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4B2E8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2025. 10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5927141" y="3602736"/>
            <a:ext cx="1353312" cy="4023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F1B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존중주간 첫 운영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5927141" y="4041648"/>
            <a:ext cx="1353312" cy="6035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900" dirty="0">
                <a:solidFill>
                  <a:srgbClr val="4A45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28개 기관</a:t>
            </a:r>
            <a:endParaRPr lang="en-US" sz="900" dirty="0"/>
          </a:p>
          <a:p>
            <a:pPr marL="0" indent="0" algn="ctr">
              <a:lnSpc>
                <a:spcPct val="125000"/>
              </a:lnSpc>
              <a:buNone/>
            </a:pPr>
            <a:r>
              <a:rPr lang="en-US" sz="900" dirty="0">
                <a:solidFill>
                  <a:srgbClr val="4A45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존중시민 9명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7868412" y="3310128"/>
            <a:ext cx="192024" cy="192024"/>
          </a:xfrm>
          <a:prstGeom prst="ellipse">
            <a:avLst/>
          </a:prstGeom>
          <a:solidFill>
            <a:srgbClr val="0E9C93"/>
          </a:solidFill>
          <a:ln>
            <a:noFill/>
          </a:ln>
        </p:spPr>
      </p:sp>
      <p:sp>
        <p:nvSpPr>
          <p:cNvPr id="35" name="Text 33"/>
          <p:cNvSpPr/>
          <p:nvPr/>
        </p:nvSpPr>
        <p:spPr>
          <a:xfrm>
            <a:off x="7283196" y="2889504"/>
            <a:ext cx="1353312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B7A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2026. 10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7283196" y="3602736"/>
            <a:ext cx="1353312" cy="4023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F1B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제2회 존중주간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7283196" y="4041648"/>
            <a:ext cx="1353312" cy="6035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900" dirty="0">
                <a:solidFill>
                  <a:srgbClr val="4A45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민간 사업장으로</a:t>
            </a:r>
            <a:endParaRPr lang="en-US" sz="900" dirty="0"/>
          </a:p>
          <a:p>
            <a:pPr marL="0" indent="0" algn="ctr">
              <a:lnSpc>
                <a:spcPct val="125000"/>
              </a:lnSpc>
              <a:buNone/>
            </a:pPr>
            <a:r>
              <a:rPr lang="en-US" sz="900" dirty="0">
                <a:solidFill>
                  <a:srgbClr val="4A45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참여 확대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502920" y="4956048"/>
            <a:ext cx="8138160" cy="804672"/>
          </a:xfrm>
          <a:prstGeom prst="rect">
            <a:avLst/>
          </a:prstGeom>
          <a:solidFill>
            <a:srgbClr val="F2EEF8"/>
          </a:solidFill>
          <a:ln>
            <a:noFill/>
          </a:ln>
        </p:spPr>
      </p:sp>
      <p:sp>
        <p:nvSpPr>
          <p:cNvPr id="39" name="Text 37"/>
          <p:cNvSpPr/>
          <p:nvPr/>
        </p:nvSpPr>
        <p:spPr>
          <a:xfrm>
            <a:off x="822960" y="5065776"/>
            <a:ext cx="7498080" cy="6035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1250" b="1" dirty="0">
                <a:solidFill>
                  <a:srgbClr val="4B2E8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2023년 </a:t>
            </a:r>
            <a:r>
              <a:rPr lang="en-US" sz="1250" b="1" dirty="0" err="1">
                <a:solidFill>
                  <a:srgbClr val="4B2E8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시민의</a:t>
            </a:r>
            <a:r>
              <a:rPr lang="en-US" sz="1250" b="1" dirty="0">
                <a:solidFill>
                  <a:srgbClr val="4B2E8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해, 2024</a:t>
            </a:r>
            <a:r>
              <a:rPr lang="ko-KR" altLang="en-US" sz="1250" b="1" dirty="0">
                <a:solidFill>
                  <a:srgbClr val="4B2E8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년 </a:t>
            </a:r>
            <a:r>
              <a:rPr lang="ko-KR" altLang="en-US" sz="1250" b="1" dirty="0" err="1">
                <a:solidFill>
                  <a:srgbClr val="4B2E8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부천다움</a:t>
            </a:r>
            <a:r>
              <a:rPr lang="en-US" altLang="ko-KR" sz="1250" b="1" dirty="0">
                <a:solidFill>
                  <a:srgbClr val="4B2E8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, </a:t>
            </a:r>
            <a:r>
              <a:rPr lang="en-US" sz="1250" b="1" dirty="0">
                <a:solidFill>
                  <a:srgbClr val="4B2E8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2025년 </a:t>
            </a:r>
            <a:r>
              <a:rPr lang="ko-KR" altLang="en-US" sz="1250" b="1" dirty="0" err="1">
                <a:solidFill>
                  <a:srgbClr val="4B2E8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부천시민다움</a:t>
            </a:r>
            <a:r>
              <a:rPr lang="ko-KR" altLang="en-US" sz="1250" b="1" dirty="0">
                <a:solidFill>
                  <a:srgbClr val="4B2E8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1250" b="1" dirty="0">
                <a:solidFill>
                  <a:srgbClr val="4B2E8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</a:t>
            </a:r>
            <a:r>
              <a:rPr lang="ko-KR" altLang="en-US" sz="1250" b="1" dirty="0">
                <a:solidFill>
                  <a:srgbClr val="4B2E8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존중시민</a:t>
            </a:r>
            <a:r>
              <a:rPr lang="en-US" altLang="ko-KR" sz="1250" b="1" dirty="0">
                <a:solidFill>
                  <a:srgbClr val="4B2E8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’</a:t>
            </a:r>
            <a:r>
              <a:rPr lang="ko-KR" altLang="en-US" sz="1250" b="1" dirty="0">
                <a:solidFill>
                  <a:srgbClr val="4B2E8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으로 </a:t>
            </a:r>
            <a:endParaRPr lang="en-US" altLang="ko-KR" sz="1250" b="1" dirty="0">
              <a:solidFill>
                <a:srgbClr val="4B2E83"/>
              </a:solidFill>
              <a:latin typeface="맑은 고딕" pitchFamily="34" charset="0"/>
              <a:ea typeface="맑은 고딕" pitchFamily="34" charset="-122"/>
              <a:cs typeface="맑은 고딕" pitchFamily="34" charset="-120"/>
            </a:endParaRPr>
          </a:p>
          <a:p>
            <a:pPr marL="0" indent="0" algn="ctr">
              <a:lnSpc>
                <a:spcPct val="135000"/>
              </a:lnSpc>
              <a:buNone/>
            </a:pPr>
            <a:r>
              <a:rPr lang="en-US" sz="1250" b="1" dirty="0">
                <a:solidFill>
                  <a:srgbClr val="4B2E8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2026년에는 ‘</a:t>
            </a:r>
            <a:r>
              <a:rPr lang="ko-KR" altLang="en-US" sz="1250" b="1" dirty="0">
                <a:solidFill>
                  <a:srgbClr val="4B2E8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존중시민</a:t>
            </a:r>
            <a:r>
              <a:rPr lang="en-US" altLang="ko-KR" sz="1250" b="1" dirty="0">
                <a:solidFill>
                  <a:srgbClr val="4B2E8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’</a:t>
            </a:r>
            <a:r>
              <a:rPr lang="ko-KR" altLang="en-US" sz="1250" b="1" dirty="0">
                <a:solidFill>
                  <a:srgbClr val="4B2E8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을 지역</a:t>
            </a:r>
            <a:r>
              <a:rPr lang="en-US" sz="1250" b="1" dirty="0" err="1">
                <a:solidFill>
                  <a:srgbClr val="4B2E8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문화로</a:t>
            </a:r>
            <a:r>
              <a:rPr lang="en-US" sz="1250" b="1" dirty="0">
                <a:solidFill>
                  <a:srgbClr val="4B2E8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ko-KR" altLang="en-US" sz="1250" b="1" dirty="0">
                <a:solidFill>
                  <a:srgbClr val="4B2E8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확산시키고자 합니다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"/>
          </a:xfrm>
          <a:prstGeom prst="rect">
            <a:avLst/>
          </a:prstGeom>
          <a:solidFill>
            <a:srgbClr val="0E9C93"/>
          </a:solidFill>
          <a:ln>
            <a:noFill/>
          </a:ln>
        </p:spPr>
      </p:sp>
      <p:sp>
        <p:nvSpPr>
          <p:cNvPr id="3" name="Shape 1"/>
          <p:cNvSpPr/>
          <p:nvPr/>
        </p:nvSpPr>
        <p:spPr>
          <a:xfrm>
            <a:off x="0" y="118872"/>
            <a:ext cx="9144000" cy="91440"/>
          </a:xfrm>
          <a:prstGeom prst="rect">
            <a:avLst/>
          </a:prstGeom>
          <a:solidFill>
            <a:srgbClr val="4B2E83"/>
          </a:solidFill>
          <a:ln>
            <a:noFill/>
          </a:ln>
        </p:spPr>
      </p:sp>
      <p:sp>
        <p:nvSpPr>
          <p:cNvPr id="4" name="Shape 2"/>
          <p:cNvSpPr/>
          <p:nvPr/>
        </p:nvSpPr>
        <p:spPr>
          <a:xfrm>
            <a:off x="502920" y="475488"/>
            <a:ext cx="64008" cy="283464"/>
          </a:xfrm>
          <a:prstGeom prst="rect">
            <a:avLst/>
          </a:prstGeom>
          <a:solidFill>
            <a:srgbClr val="0B7A73"/>
          </a:solidFill>
          <a:ln>
            <a:noFill/>
          </a:ln>
        </p:spPr>
      </p:sp>
      <p:sp>
        <p:nvSpPr>
          <p:cNvPr id="5" name="Text 3"/>
          <p:cNvSpPr/>
          <p:nvPr/>
        </p:nvSpPr>
        <p:spPr>
          <a:xfrm>
            <a:off x="658368" y="420624"/>
            <a:ext cx="804672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4B2E8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2025 감정노동 존중주간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658368" y="822960"/>
            <a:ext cx="80467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45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포럼과 기념식으로 문을 열고, 한 주간 지역 곳곳에서 존중의 움직임이 이어졌습니다.</a:t>
            </a:r>
            <a:endParaRPr lang="en-US" sz="1150" dirty="0"/>
          </a:p>
        </p:txBody>
      </p:sp>
      <p:pic>
        <p:nvPicPr>
          <p:cNvPr id="7" name="Image 0" descr="p_forum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371600"/>
            <a:ext cx="2523744" cy="16824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02920" y="3108960"/>
            <a:ext cx="2523744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4A45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부천다움 포럼</a:t>
            </a:r>
            <a:endParaRPr lang="en-US" sz="9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4A45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감정노동 실태 </a:t>
            </a:r>
            <a:r>
              <a:rPr lang="en-US" sz="900" dirty="0" err="1">
                <a:solidFill>
                  <a:srgbClr val="4A45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발제·토론</a:t>
            </a:r>
            <a:endParaRPr lang="en-US" sz="900" dirty="0"/>
          </a:p>
        </p:txBody>
      </p:sp>
      <p:pic>
        <p:nvPicPr>
          <p:cNvPr id="9" name="Image 1" descr="p_ceremony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18688" y="1371600"/>
            <a:ext cx="2523744" cy="168249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218688" y="3108960"/>
            <a:ext cx="2523744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4A45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기념식</a:t>
            </a:r>
            <a:endParaRPr lang="en-US" sz="9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4A45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존중주간 공동 </a:t>
            </a:r>
            <a:r>
              <a:rPr lang="en-US" sz="900" dirty="0" err="1">
                <a:solidFill>
                  <a:srgbClr val="4A45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선포</a:t>
            </a:r>
            <a:r>
              <a:rPr lang="en-US" sz="900" dirty="0">
                <a:solidFill>
                  <a:srgbClr val="4A45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endParaRPr lang="en-US" sz="900" dirty="0"/>
          </a:p>
        </p:txBody>
      </p:sp>
      <p:pic>
        <p:nvPicPr>
          <p:cNvPr id="11" name="Image 2" descr="p_award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34456" y="1371600"/>
            <a:ext cx="2523744" cy="1682496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5934456" y="3108960"/>
            <a:ext cx="2523744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4A45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존중시민 감사장</a:t>
            </a:r>
            <a:endParaRPr lang="en-US" sz="9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4A45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감정노동자가 추천한 시민 9명</a:t>
            </a:r>
            <a:endParaRPr lang="en-US" sz="900" dirty="0"/>
          </a:p>
        </p:txBody>
      </p:sp>
      <p:pic>
        <p:nvPicPr>
          <p:cNvPr id="13" name="Image 3" descr="p_perf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920" y="3657600"/>
            <a:ext cx="2523744" cy="1682496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502920" y="5394960"/>
            <a:ext cx="2523744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4A45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부천시민다움 선포</a:t>
            </a:r>
            <a:endParaRPr lang="en-US" sz="9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00" dirty="0" err="1">
                <a:solidFill>
                  <a:srgbClr val="4A45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존중시민·부천다움</a:t>
            </a:r>
            <a:endParaRPr lang="en-US" sz="900" dirty="0"/>
          </a:p>
        </p:txBody>
      </p:sp>
      <p:pic>
        <p:nvPicPr>
          <p:cNvPr id="15" name="Image 4" descr="p_labor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18688" y="3657600"/>
            <a:ext cx="2523744" cy="1682496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3218688" y="5394960"/>
            <a:ext cx="2523744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4A45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노사공동 참여</a:t>
            </a:r>
            <a:endParaRPr lang="en-US" sz="9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4A45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출자출연기관 4곳 노사 공동</a:t>
            </a:r>
            <a:endParaRPr lang="en-US" sz="900" dirty="0"/>
          </a:p>
        </p:txBody>
      </p:sp>
      <p:pic>
        <p:nvPicPr>
          <p:cNvPr id="17" name="Image 5" descr="p_campaign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34456" y="3657600"/>
            <a:ext cx="2523744" cy="1682496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5934456" y="5394960"/>
            <a:ext cx="2523744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4A45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노사공동 캠페인</a:t>
            </a:r>
            <a:endParaRPr lang="en-US" sz="9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4A45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부천시청 (10.21)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"/>
          </a:xfrm>
          <a:prstGeom prst="rect">
            <a:avLst/>
          </a:prstGeom>
          <a:solidFill>
            <a:srgbClr val="0E9C93"/>
          </a:solidFill>
          <a:ln>
            <a:noFill/>
          </a:ln>
        </p:spPr>
      </p:sp>
      <p:sp>
        <p:nvSpPr>
          <p:cNvPr id="3" name="Shape 1"/>
          <p:cNvSpPr/>
          <p:nvPr/>
        </p:nvSpPr>
        <p:spPr>
          <a:xfrm>
            <a:off x="0" y="118872"/>
            <a:ext cx="9144000" cy="91440"/>
          </a:xfrm>
          <a:prstGeom prst="rect">
            <a:avLst/>
          </a:prstGeom>
          <a:solidFill>
            <a:srgbClr val="4B2E83"/>
          </a:solidFill>
          <a:ln>
            <a:noFill/>
          </a:ln>
        </p:spPr>
      </p:sp>
      <p:sp>
        <p:nvSpPr>
          <p:cNvPr id="4" name="Shape 2"/>
          <p:cNvSpPr/>
          <p:nvPr/>
        </p:nvSpPr>
        <p:spPr>
          <a:xfrm>
            <a:off x="502920" y="475488"/>
            <a:ext cx="64008" cy="283464"/>
          </a:xfrm>
          <a:prstGeom prst="rect">
            <a:avLst/>
          </a:prstGeom>
          <a:solidFill>
            <a:srgbClr val="0B7A73"/>
          </a:solidFill>
          <a:ln>
            <a:noFill/>
          </a:ln>
        </p:spPr>
      </p:sp>
      <p:sp>
        <p:nvSpPr>
          <p:cNvPr id="5" name="Text 3"/>
          <p:cNvSpPr/>
          <p:nvPr/>
        </p:nvSpPr>
        <p:spPr>
          <a:xfrm>
            <a:off x="658368" y="420624"/>
            <a:ext cx="804672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4B2E8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 감정노동 존중주간 개요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02920" y="1371600"/>
            <a:ext cx="1078992" cy="475488"/>
          </a:xfrm>
          <a:prstGeom prst="rect">
            <a:avLst/>
          </a:prstGeom>
          <a:solidFill>
            <a:srgbClr val="F2EEF8"/>
          </a:solidFill>
          <a:ln>
            <a:noFill/>
          </a:ln>
        </p:spPr>
      </p:sp>
      <p:sp>
        <p:nvSpPr>
          <p:cNvPr id="7" name="Text 5"/>
          <p:cNvSpPr/>
          <p:nvPr/>
        </p:nvSpPr>
        <p:spPr>
          <a:xfrm>
            <a:off x="502920" y="1371600"/>
            <a:ext cx="1078992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B2E8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명 칭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691640" y="1371600"/>
            <a:ext cx="2743200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F1B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 감정노동 존중주간 (부천다움 주간)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02920" y="1920240"/>
            <a:ext cx="1078992" cy="475488"/>
          </a:xfrm>
          <a:prstGeom prst="rect">
            <a:avLst/>
          </a:prstGeom>
          <a:solidFill>
            <a:srgbClr val="F2EEF8"/>
          </a:solidFill>
          <a:ln>
            <a:noFill/>
          </a:ln>
        </p:spPr>
      </p:sp>
      <p:sp>
        <p:nvSpPr>
          <p:cNvPr id="10" name="Text 8"/>
          <p:cNvSpPr/>
          <p:nvPr/>
        </p:nvSpPr>
        <p:spPr>
          <a:xfrm>
            <a:off x="502920" y="1920240"/>
            <a:ext cx="1078992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B2E8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 간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691640" y="1920240"/>
            <a:ext cx="2743200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F1B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2026. 10. 15.(목) ~ 21.(수)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2920" y="2468880"/>
            <a:ext cx="1078992" cy="475488"/>
          </a:xfrm>
          <a:prstGeom prst="rect">
            <a:avLst/>
          </a:prstGeom>
          <a:solidFill>
            <a:srgbClr val="F2EEF8"/>
          </a:solidFill>
          <a:ln>
            <a:noFill/>
          </a:ln>
        </p:spPr>
      </p:sp>
      <p:sp>
        <p:nvSpPr>
          <p:cNvPr id="13" name="Text 11"/>
          <p:cNvSpPr/>
          <p:nvPr/>
        </p:nvSpPr>
        <p:spPr>
          <a:xfrm>
            <a:off x="502920" y="2468880"/>
            <a:ext cx="1078992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B2E8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 소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691640" y="2468880"/>
            <a:ext cx="2743200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F1B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부천시일쉼지원센터 다목적실 등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02920" y="3017520"/>
            <a:ext cx="1078992" cy="475488"/>
          </a:xfrm>
          <a:prstGeom prst="rect">
            <a:avLst/>
          </a:prstGeom>
          <a:solidFill>
            <a:srgbClr val="F2EEF8"/>
          </a:solidFill>
          <a:ln>
            <a:noFill/>
          </a:ln>
        </p:spPr>
      </p:sp>
      <p:sp>
        <p:nvSpPr>
          <p:cNvPr id="16" name="Text 14"/>
          <p:cNvSpPr/>
          <p:nvPr/>
        </p:nvSpPr>
        <p:spPr>
          <a:xfrm>
            <a:off x="502920" y="3017520"/>
            <a:ext cx="1078992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B2E8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 상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691640" y="3017520"/>
            <a:ext cx="2743200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F1B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부천시민, 업무협약 기관 등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02920" y="3566160"/>
            <a:ext cx="1078992" cy="640080"/>
          </a:xfrm>
          <a:prstGeom prst="rect">
            <a:avLst/>
          </a:prstGeom>
          <a:solidFill>
            <a:srgbClr val="F2EEF8"/>
          </a:solidFill>
          <a:ln>
            <a:noFill/>
          </a:ln>
        </p:spPr>
      </p:sp>
      <p:sp>
        <p:nvSpPr>
          <p:cNvPr id="19" name="Text 17"/>
          <p:cNvSpPr/>
          <p:nvPr/>
        </p:nvSpPr>
        <p:spPr>
          <a:xfrm>
            <a:off x="502920" y="3566160"/>
            <a:ext cx="1078992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B2E8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공동주관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691640" y="3566160"/>
            <a:ext cx="274320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F1B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부천상공회의소 · 부천시일쉼지원센터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F1B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한국노총 부천김포지역지부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02920" y="4279392"/>
            <a:ext cx="1078992" cy="640080"/>
          </a:xfrm>
          <a:prstGeom prst="rect">
            <a:avLst/>
          </a:prstGeom>
          <a:solidFill>
            <a:srgbClr val="F2EEF8"/>
          </a:solidFill>
          <a:ln>
            <a:noFill/>
          </a:ln>
        </p:spPr>
      </p:sp>
      <p:sp>
        <p:nvSpPr>
          <p:cNvPr id="22" name="Text 20"/>
          <p:cNvSpPr/>
          <p:nvPr/>
        </p:nvSpPr>
        <p:spPr>
          <a:xfrm>
            <a:off x="502920" y="4279392"/>
            <a:ext cx="1078992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B2E8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 거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691640" y="4279392"/>
            <a:ext cx="274320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F1B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2022.9 업무협약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F1B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산업안전보건법 제41조 시행 8주년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09160" y="1371600"/>
            <a:ext cx="3931920" cy="1042416"/>
          </a:xfrm>
          <a:prstGeom prst="rect">
            <a:avLst/>
          </a:prstGeom>
          <a:solidFill>
            <a:srgbClr val="E4F3F1"/>
          </a:solidFill>
          <a:ln>
            <a:noFill/>
          </a:ln>
        </p:spPr>
      </p:sp>
      <p:sp>
        <p:nvSpPr>
          <p:cNvPr id="25" name="Text 23"/>
          <p:cNvSpPr/>
          <p:nvPr/>
        </p:nvSpPr>
        <p:spPr>
          <a:xfrm>
            <a:off x="4983480" y="1490472"/>
            <a:ext cx="34290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B2E8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부천다움 포럼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983480" y="1783080"/>
            <a:ext cx="342900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7A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2026. 10. 15.(목) 14:30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4983480" y="2048256"/>
            <a:ext cx="342900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000" dirty="0"/>
              <a:t>감정노동과 </a:t>
            </a:r>
            <a:r>
              <a:rPr lang="ko-KR" altLang="en-US" sz="1000" dirty="0" err="1"/>
              <a:t>부천시민다움</a:t>
            </a:r>
            <a:r>
              <a:rPr lang="ko-KR" altLang="en-US" sz="1000" dirty="0"/>
              <a:t> </a:t>
            </a:r>
            <a:r>
              <a:rPr lang="en-US" altLang="ko-KR" sz="1000" dirty="0"/>
              <a:t>– </a:t>
            </a:r>
            <a:r>
              <a:rPr lang="ko-KR" altLang="en-US" sz="1000" dirty="0"/>
              <a:t>왜 존중시민인가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709160" y="2578608"/>
            <a:ext cx="3931920" cy="1042416"/>
          </a:xfrm>
          <a:prstGeom prst="rect">
            <a:avLst/>
          </a:prstGeom>
          <a:solidFill>
            <a:srgbClr val="E4F3F1"/>
          </a:solidFill>
          <a:ln>
            <a:noFill/>
          </a:ln>
        </p:spPr>
      </p:sp>
      <p:sp>
        <p:nvSpPr>
          <p:cNvPr id="29" name="Text 27"/>
          <p:cNvSpPr/>
          <p:nvPr/>
        </p:nvSpPr>
        <p:spPr>
          <a:xfrm>
            <a:off x="4983480" y="2697480"/>
            <a:ext cx="34290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B2E8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 념 식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983480" y="2990088"/>
            <a:ext cx="342900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7A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2026. 10. 15.(목) 16:00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4983480" y="3255264"/>
            <a:ext cx="342900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45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존중주간 공동 선포, 존중시민 감사장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709160" y="3785616"/>
            <a:ext cx="3931920" cy="1042416"/>
          </a:xfrm>
          <a:prstGeom prst="rect">
            <a:avLst/>
          </a:prstGeom>
          <a:solidFill>
            <a:srgbClr val="E4F3F1"/>
          </a:solidFill>
          <a:ln>
            <a:noFill/>
          </a:ln>
        </p:spPr>
      </p:sp>
      <p:sp>
        <p:nvSpPr>
          <p:cNvPr id="33" name="Text 31"/>
          <p:cNvSpPr/>
          <p:nvPr/>
        </p:nvSpPr>
        <p:spPr>
          <a:xfrm>
            <a:off x="4983480" y="3904488"/>
            <a:ext cx="34290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B2E8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존중주간 운영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4983480" y="4197096"/>
            <a:ext cx="342900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7A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2026. 10. 15.(목) ~ 21.(수)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4983480" y="4462272"/>
            <a:ext cx="342900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45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참여기관 공동 캠페인 온·오프라인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983480" y="5120640"/>
            <a:ext cx="365760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4A45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2025년 실적 28개 기관 · 31회 · 5,570명</a:t>
            </a: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4A45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2026년에는 민간 사업장으로 참여를 넓힙니다.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"/>
          </a:xfrm>
          <a:prstGeom prst="rect">
            <a:avLst/>
          </a:prstGeom>
          <a:solidFill>
            <a:srgbClr val="0E9C93"/>
          </a:solidFill>
          <a:ln>
            <a:noFill/>
          </a:ln>
        </p:spPr>
      </p:sp>
      <p:sp>
        <p:nvSpPr>
          <p:cNvPr id="3" name="Shape 1"/>
          <p:cNvSpPr/>
          <p:nvPr/>
        </p:nvSpPr>
        <p:spPr>
          <a:xfrm>
            <a:off x="0" y="118872"/>
            <a:ext cx="9144000" cy="91440"/>
          </a:xfrm>
          <a:prstGeom prst="rect">
            <a:avLst/>
          </a:prstGeom>
          <a:solidFill>
            <a:srgbClr val="4B2E83"/>
          </a:solidFill>
          <a:ln>
            <a:noFill/>
          </a:ln>
        </p:spPr>
      </p:sp>
      <p:sp>
        <p:nvSpPr>
          <p:cNvPr id="4" name="Shape 2"/>
          <p:cNvSpPr/>
          <p:nvPr/>
        </p:nvSpPr>
        <p:spPr>
          <a:xfrm>
            <a:off x="502920" y="475488"/>
            <a:ext cx="64008" cy="283464"/>
          </a:xfrm>
          <a:prstGeom prst="rect">
            <a:avLst/>
          </a:prstGeom>
          <a:solidFill>
            <a:srgbClr val="0B7A73"/>
          </a:solidFill>
          <a:ln>
            <a:noFill/>
          </a:ln>
        </p:spPr>
      </p:sp>
      <p:sp>
        <p:nvSpPr>
          <p:cNvPr id="5" name="Text 3"/>
          <p:cNvSpPr/>
          <p:nvPr/>
        </p:nvSpPr>
        <p:spPr>
          <a:xfrm>
            <a:off x="658368" y="420624"/>
            <a:ext cx="804672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4B2E8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이렇게 참여합니다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658368" y="822960"/>
            <a:ext cx="80467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50" dirty="0">
                <a:solidFill>
                  <a:srgbClr val="4A45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기관의 상황과 여건에 따라 </a:t>
            </a:r>
            <a:r>
              <a:rPr lang="ko-KR" altLang="en-US" sz="1150" dirty="0" err="1">
                <a:solidFill>
                  <a:srgbClr val="4A45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참여하실수</a:t>
            </a:r>
            <a:r>
              <a:rPr lang="ko-KR" altLang="en-US" sz="1150" dirty="0">
                <a:solidFill>
                  <a:srgbClr val="4A45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있습니다</a:t>
            </a:r>
            <a:r>
              <a:rPr lang="en-US" altLang="ko-KR" sz="1150" dirty="0">
                <a:solidFill>
                  <a:srgbClr val="4A45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02920" y="1353312"/>
            <a:ext cx="393192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B2E8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함께해주실 일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02920" y="1773936"/>
            <a:ext cx="475488" cy="256032"/>
          </a:xfrm>
          <a:prstGeom prst="rect">
            <a:avLst/>
          </a:prstGeom>
          <a:solidFill>
            <a:srgbClr val="4B2E83"/>
          </a:solidFill>
          <a:ln>
            <a:noFill/>
          </a:ln>
        </p:spPr>
      </p:sp>
      <p:sp>
        <p:nvSpPr>
          <p:cNvPr id="9" name="Text 7"/>
          <p:cNvSpPr/>
          <p:nvPr/>
        </p:nvSpPr>
        <p:spPr>
          <a:xfrm>
            <a:off x="502920" y="1773936"/>
            <a:ext cx="475488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필수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1097280" y="1746504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1B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존중주간 안내문 게시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97280" y="2029968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45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현수막 · 알림판 · 홈페이지 · SNS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02920" y="2450592"/>
            <a:ext cx="475488" cy="256032"/>
          </a:xfrm>
          <a:prstGeom prst="rect">
            <a:avLst/>
          </a:prstGeom>
          <a:solidFill>
            <a:srgbClr val="4B2E83"/>
          </a:solidFill>
          <a:ln>
            <a:noFill/>
          </a:ln>
        </p:spPr>
      </p:sp>
      <p:sp>
        <p:nvSpPr>
          <p:cNvPr id="13" name="Text 11"/>
          <p:cNvSpPr/>
          <p:nvPr/>
        </p:nvSpPr>
        <p:spPr>
          <a:xfrm>
            <a:off x="502920" y="2450592"/>
            <a:ext cx="475488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필수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1097280" y="2423160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1B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감정노동자 응원메시지 게시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97280" y="2706624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45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기관 대표 또는 노사 공동 명의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02920" y="3127248"/>
            <a:ext cx="475488" cy="256032"/>
          </a:xfrm>
          <a:prstGeom prst="rect">
            <a:avLst/>
          </a:prstGeom>
          <a:solidFill>
            <a:srgbClr val="4B2E83"/>
          </a:solidFill>
          <a:ln>
            <a:noFill/>
          </a:ln>
        </p:spPr>
      </p:sp>
      <p:sp>
        <p:nvSpPr>
          <p:cNvPr id="17" name="Text 15"/>
          <p:cNvSpPr/>
          <p:nvPr/>
        </p:nvSpPr>
        <p:spPr>
          <a:xfrm>
            <a:off x="502920" y="3127248"/>
            <a:ext cx="475488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필수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1097280" y="3099816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200" b="1" dirty="0">
                <a:solidFill>
                  <a:srgbClr val="1F1B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존중시민</a:t>
            </a:r>
            <a:r>
              <a:rPr lang="en-US" sz="1200" b="1" dirty="0">
                <a:solidFill>
                  <a:srgbClr val="1F1B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200" b="1" dirty="0" err="1">
                <a:solidFill>
                  <a:srgbClr val="1F1B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리플렛</a:t>
            </a:r>
            <a:r>
              <a:rPr lang="en-US" sz="1200" b="1" dirty="0">
                <a:solidFill>
                  <a:srgbClr val="1F1B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200" b="1" dirty="0" err="1">
                <a:solidFill>
                  <a:srgbClr val="1F1B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배포</a:t>
            </a:r>
            <a:r>
              <a:rPr lang="en-US" sz="1200" b="1" dirty="0">
                <a:solidFill>
                  <a:srgbClr val="1F1B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/ </a:t>
            </a:r>
            <a:r>
              <a:rPr lang="ko-KR" altLang="en-US" sz="1200" b="1" dirty="0">
                <a:solidFill>
                  <a:srgbClr val="1F1B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청소년용 </a:t>
            </a:r>
            <a:r>
              <a:rPr lang="ko-KR" altLang="en-US" sz="1200" b="1" dirty="0" err="1">
                <a:solidFill>
                  <a:srgbClr val="1F1B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웹앱</a:t>
            </a:r>
            <a:r>
              <a:rPr lang="ko-KR" altLang="en-US" sz="1200" b="1" dirty="0">
                <a:solidFill>
                  <a:srgbClr val="1F1B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배포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97280" y="3383280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45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 응대 창구 · 방문객 대상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02920" y="3803904"/>
            <a:ext cx="475488" cy="256032"/>
          </a:xfrm>
          <a:prstGeom prst="rect">
            <a:avLst/>
          </a:prstGeom>
          <a:solidFill>
            <a:srgbClr val="0B7A73"/>
          </a:solidFill>
          <a:ln>
            <a:noFill/>
          </a:ln>
        </p:spPr>
      </p:sp>
      <p:sp>
        <p:nvSpPr>
          <p:cNvPr id="21" name="Text 19"/>
          <p:cNvSpPr/>
          <p:nvPr/>
        </p:nvSpPr>
        <p:spPr>
          <a:xfrm>
            <a:off x="502920" y="3803904"/>
            <a:ext cx="475488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선택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1097280" y="3776472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1B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존중시민 발굴 및 추천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97280" y="4059936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45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감정노동자 본인 또는 소속 기관이 추천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02920" y="4480560"/>
            <a:ext cx="475488" cy="256032"/>
          </a:xfrm>
          <a:prstGeom prst="rect">
            <a:avLst/>
          </a:prstGeom>
          <a:solidFill>
            <a:srgbClr val="0B7A73"/>
          </a:solidFill>
          <a:ln>
            <a:noFill/>
          </a:ln>
        </p:spPr>
      </p:sp>
      <p:sp>
        <p:nvSpPr>
          <p:cNvPr id="25" name="Text 23"/>
          <p:cNvSpPr/>
          <p:nvPr/>
        </p:nvSpPr>
        <p:spPr>
          <a:xfrm>
            <a:off x="502920" y="4480560"/>
            <a:ext cx="475488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선택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1097280" y="4453128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1B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기관 자체 교육 · 이벤트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097280" y="4736592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45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사내 교육, 응원의 날 등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02920" y="5157216"/>
            <a:ext cx="475488" cy="256032"/>
          </a:xfrm>
          <a:prstGeom prst="rect">
            <a:avLst/>
          </a:prstGeom>
          <a:solidFill>
            <a:srgbClr val="0B7A73"/>
          </a:solidFill>
          <a:ln>
            <a:noFill/>
          </a:ln>
        </p:spPr>
      </p:sp>
      <p:sp>
        <p:nvSpPr>
          <p:cNvPr id="29" name="Text 27"/>
          <p:cNvSpPr/>
          <p:nvPr/>
        </p:nvSpPr>
        <p:spPr>
          <a:xfrm>
            <a:off x="502920" y="5157216"/>
            <a:ext cx="475488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선택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1097280" y="5129784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1B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노사공동 캠페인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097280" y="5413248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45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노측 · 사측 공동 진행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709160" y="1316736"/>
            <a:ext cx="3931920" cy="4389120"/>
          </a:xfrm>
          <a:prstGeom prst="rect">
            <a:avLst/>
          </a:prstGeom>
          <a:solidFill>
            <a:srgbClr val="F2EEF8"/>
          </a:solidFill>
          <a:ln>
            <a:noFill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33" name="Text 31"/>
          <p:cNvSpPr/>
          <p:nvPr/>
        </p:nvSpPr>
        <p:spPr>
          <a:xfrm>
            <a:off x="4983480" y="1536192"/>
            <a:ext cx="338328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B2E8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센터가 지원합니다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4983480" y="2048256"/>
            <a:ext cx="475488" cy="256032"/>
          </a:xfrm>
          <a:prstGeom prst="rect">
            <a:avLst/>
          </a:prstGeom>
          <a:solidFill>
            <a:srgbClr val="0B7A73"/>
          </a:solidFill>
          <a:ln>
            <a:noFill/>
          </a:ln>
        </p:spPr>
      </p:sp>
      <p:sp>
        <p:nvSpPr>
          <p:cNvPr id="35" name="Text 33"/>
          <p:cNvSpPr/>
          <p:nvPr/>
        </p:nvSpPr>
        <p:spPr>
          <a:xfrm>
            <a:off x="4983480" y="2048256"/>
            <a:ext cx="475488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공통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5577840" y="2020824"/>
            <a:ext cx="28346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F1B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부천시민다움 리플렛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5577840" y="2304288"/>
            <a:ext cx="28346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45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신청 수량만큼 제공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983480" y="2907792"/>
            <a:ext cx="475488" cy="256032"/>
          </a:xfrm>
          <a:prstGeom prst="rect">
            <a:avLst/>
          </a:prstGeom>
          <a:solidFill>
            <a:srgbClr val="8B72BE"/>
          </a:solidFill>
          <a:ln>
            <a:noFill/>
          </a:ln>
        </p:spPr>
      </p:sp>
      <p:sp>
        <p:nvSpPr>
          <p:cNvPr id="39" name="Text 37"/>
          <p:cNvSpPr/>
          <p:nvPr/>
        </p:nvSpPr>
        <p:spPr>
          <a:xfrm>
            <a:off x="4983480" y="2907792"/>
            <a:ext cx="475488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신청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5577840" y="2880360"/>
            <a:ext cx="28346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F1B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안내 스티커 · 배너 · 현수막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5577840" y="3163824"/>
            <a:ext cx="28346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45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예산 내 제작 지원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4983480" y="3767328"/>
            <a:ext cx="475488" cy="256032"/>
          </a:xfrm>
          <a:prstGeom prst="rect">
            <a:avLst/>
          </a:prstGeom>
          <a:solidFill>
            <a:srgbClr val="8B72BE"/>
          </a:solidFill>
          <a:ln>
            <a:noFill/>
          </a:ln>
        </p:spPr>
      </p:sp>
      <p:sp>
        <p:nvSpPr>
          <p:cNvPr id="43" name="Text 41"/>
          <p:cNvSpPr/>
          <p:nvPr/>
        </p:nvSpPr>
        <p:spPr>
          <a:xfrm>
            <a:off x="4983480" y="3767328"/>
            <a:ext cx="475488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신청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5577840" y="3739896"/>
            <a:ext cx="28346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F1B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오프라인 캠페인 홍보물품</a:t>
            </a:r>
            <a:endParaRPr lang="en-US" sz="1150" dirty="0"/>
          </a:p>
        </p:txBody>
      </p:sp>
      <p:sp>
        <p:nvSpPr>
          <p:cNvPr id="45" name="Text 43"/>
          <p:cNvSpPr/>
          <p:nvPr/>
        </p:nvSpPr>
        <p:spPr>
          <a:xfrm>
            <a:off x="5577840" y="4023360"/>
            <a:ext cx="28346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45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미니 극세사 수건 등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4983480" y="4626864"/>
            <a:ext cx="475488" cy="256032"/>
          </a:xfrm>
          <a:prstGeom prst="rect">
            <a:avLst/>
          </a:prstGeom>
          <a:solidFill>
            <a:srgbClr val="8B72BE"/>
          </a:solidFill>
          <a:ln>
            <a:noFill/>
          </a:ln>
        </p:spPr>
      </p:sp>
      <p:sp>
        <p:nvSpPr>
          <p:cNvPr id="47" name="Text 45"/>
          <p:cNvSpPr/>
          <p:nvPr/>
        </p:nvSpPr>
        <p:spPr>
          <a:xfrm>
            <a:off x="4983480" y="4626864"/>
            <a:ext cx="475488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신청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5577840" y="4599432"/>
            <a:ext cx="28346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F1B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존중시민 감사장 (액자형)</a:t>
            </a:r>
            <a:endParaRPr lang="en-US" sz="1150" dirty="0"/>
          </a:p>
        </p:txBody>
      </p:sp>
      <p:sp>
        <p:nvSpPr>
          <p:cNvPr id="49" name="Text 47"/>
          <p:cNvSpPr/>
          <p:nvPr/>
        </p:nvSpPr>
        <p:spPr>
          <a:xfrm>
            <a:off x="5577840" y="4882896"/>
            <a:ext cx="28346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45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기관별 1~2명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4983480" y="5358384"/>
            <a:ext cx="338328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45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2026년 지원 수량은 예산 확정 후 안내드립니다.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"/>
          </a:xfrm>
          <a:prstGeom prst="rect">
            <a:avLst/>
          </a:prstGeom>
          <a:solidFill>
            <a:srgbClr val="0E9C93"/>
          </a:solidFill>
          <a:ln>
            <a:noFill/>
          </a:ln>
        </p:spPr>
      </p:sp>
      <p:sp>
        <p:nvSpPr>
          <p:cNvPr id="3" name="Shape 1"/>
          <p:cNvSpPr/>
          <p:nvPr/>
        </p:nvSpPr>
        <p:spPr>
          <a:xfrm>
            <a:off x="0" y="118872"/>
            <a:ext cx="9144000" cy="91440"/>
          </a:xfrm>
          <a:prstGeom prst="rect">
            <a:avLst/>
          </a:prstGeom>
          <a:solidFill>
            <a:srgbClr val="4B2E83"/>
          </a:solidFill>
          <a:ln>
            <a:noFill/>
          </a:ln>
        </p:spPr>
      </p:sp>
      <p:sp>
        <p:nvSpPr>
          <p:cNvPr id="4" name="Shape 2"/>
          <p:cNvSpPr/>
          <p:nvPr/>
        </p:nvSpPr>
        <p:spPr>
          <a:xfrm>
            <a:off x="502920" y="475488"/>
            <a:ext cx="64008" cy="283464"/>
          </a:xfrm>
          <a:prstGeom prst="rect">
            <a:avLst/>
          </a:prstGeom>
          <a:solidFill>
            <a:srgbClr val="0B7A73"/>
          </a:solidFill>
          <a:ln>
            <a:noFill/>
          </a:ln>
        </p:spPr>
      </p:sp>
      <p:sp>
        <p:nvSpPr>
          <p:cNvPr id="5" name="Text 3"/>
          <p:cNvSpPr/>
          <p:nvPr/>
        </p:nvSpPr>
        <p:spPr>
          <a:xfrm>
            <a:off x="658368" y="420624"/>
            <a:ext cx="804672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4B2E8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신청 안내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658368" y="822960"/>
            <a:ext cx="80467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45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QR 코드 한 번이면 참여기관 신청과 존중시민 추천을 함께 하실 수 있습니다.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02920" y="1371600"/>
            <a:ext cx="3108960" cy="3794760"/>
          </a:xfrm>
          <a:prstGeom prst="rect">
            <a:avLst/>
          </a:prstGeom>
          <a:solidFill>
            <a:srgbClr val="F2EEF8"/>
          </a:solidFill>
          <a:ln>
            <a:noFill/>
          </a:ln>
        </p:spPr>
      </p:sp>
      <p:pic>
        <p:nvPicPr>
          <p:cNvPr id="8" name="Image 0" descr="q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1691640"/>
            <a:ext cx="2011680" cy="20116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40080" y="3858768"/>
            <a:ext cx="28346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B2E8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참여기관 신청 · 존중시민 추천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40080" y="4151376"/>
            <a:ext cx="28346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0B7A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respect-week.vercel.app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640080" y="4572000"/>
            <a:ext cx="28346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4A45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문의  032-323-1203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3977640" y="1435608"/>
            <a:ext cx="329184" cy="329184"/>
          </a:xfrm>
          <a:prstGeom prst="ellipse">
            <a:avLst/>
          </a:prstGeom>
          <a:solidFill>
            <a:srgbClr val="0B7A73"/>
          </a:solidFill>
          <a:ln>
            <a:noFill/>
          </a:ln>
        </p:spPr>
      </p:sp>
      <p:sp>
        <p:nvSpPr>
          <p:cNvPr id="13" name="Text 10"/>
          <p:cNvSpPr/>
          <p:nvPr/>
        </p:nvSpPr>
        <p:spPr>
          <a:xfrm>
            <a:off x="3977640" y="1435608"/>
            <a:ext cx="329184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4498848" y="1417320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1B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참여기관 신청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4498848" y="1691640"/>
            <a:ext cx="411480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A45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기관명 · 담당자 · 기관 구분을 등록합니다.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3977640" y="2221992"/>
            <a:ext cx="329184" cy="329184"/>
          </a:xfrm>
          <a:prstGeom prst="ellipse">
            <a:avLst/>
          </a:prstGeom>
          <a:solidFill>
            <a:srgbClr val="0B7A73"/>
          </a:solidFill>
          <a:ln>
            <a:noFill/>
          </a:ln>
        </p:spPr>
      </p:sp>
      <p:sp>
        <p:nvSpPr>
          <p:cNvPr id="17" name="Text 14"/>
          <p:cNvSpPr/>
          <p:nvPr/>
        </p:nvSpPr>
        <p:spPr>
          <a:xfrm>
            <a:off x="3977640" y="2221992"/>
            <a:ext cx="329184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4498848" y="2203704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1B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세부 참여내용 제출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4498848" y="2478024"/>
            <a:ext cx="411480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A45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제작물 신청 수량과 자체 활동 계획을 알려주세요.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3977640" y="3008376"/>
            <a:ext cx="329184" cy="329184"/>
          </a:xfrm>
          <a:prstGeom prst="ellipse">
            <a:avLst/>
          </a:prstGeom>
          <a:solidFill>
            <a:srgbClr val="0B7A73"/>
          </a:solidFill>
          <a:ln>
            <a:noFill/>
          </a:ln>
        </p:spPr>
      </p:sp>
      <p:sp>
        <p:nvSpPr>
          <p:cNvPr id="21" name="Text 18"/>
          <p:cNvSpPr/>
          <p:nvPr/>
        </p:nvSpPr>
        <p:spPr>
          <a:xfrm>
            <a:off x="3977640" y="3008376"/>
            <a:ext cx="329184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150" dirty="0"/>
          </a:p>
        </p:txBody>
      </p:sp>
      <p:sp>
        <p:nvSpPr>
          <p:cNvPr id="22" name="Text 19"/>
          <p:cNvSpPr/>
          <p:nvPr/>
        </p:nvSpPr>
        <p:spPr>
          <a:xfrm>
            <a:off x="4498848" y="2990088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1B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제작물 배송 및 안내</a:t>
            </a:r>
            <a:endParaRPr lang="en-US" sz="1250" dirty="0"/>
          </a:p>
        </p:txBody>
      </p:sp>
      <p:sp>
        <p:nvSpPr>
          <p:cNvPr id="23" name="Text 20"/>
          <p:cNvSpPr/>
          <p:nvPr/>
        </p:nvSpPr>
        <p:spPr>
          <a:xfrm>
            <a:off x="4498848" y="3264408"/>
            <a:ext cx="411480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A45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신청하신 제작물과 캠페인 자료를 보내드립니다.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3977640" y="3794760"/>
            <a:ext cx="329184" cy="329184"/>
          </a:xfrm>
          <a:prstGeom prst="ellipse">
            <a:avLst/>
          </a:prstGeom>
          <a:solidFill>
            <a:srgbClr val="0B7A73"/>
          </a:solidFill>
          <a:ln>
            <a:noFill/>
          </a:ln>
        </p:spPr>
      </p:sp>
      <p:sp>
        <p:nvSpPr>
          <p:cNvPr id="25" name="Text 22"/>
          <p:cNvSpPr/>
          <p:nvPr/>
        </p:nvSpPr>
        <p:spPr>
          <a:xfrm>
            <a:off x="3977640" y="3794760"/>
            <a:ext cx="329184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150" dirty="0"/>
          </a:p>
        </p:txBody>
      </p:sp>
      <p:sp>
        <p:nvSpPr>
          <p:cNvPr id="26" name="Text 23"/>
          <p:cNvSpPr/>
          <p:nvPr/>
        </p:nvSpPr>
        <p:spPr>
          <a:xfrm>
            <a:off x="4498848" y="3776472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1B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존중주간 운영</a:t>
            </a:r>
            <a:endParaRPr lang="en-US" sz="1250" dirty="0"/>
          </a:p>
        </p:txBody>
      </p:sp>
      <p:sp>
        <p:nvSpPr>
          <p:cNvPr id="27" name="Text 24"/>
          <p:cNvSpPr/>
          <p:nvPr/>
        </p:nvSpPr>
        <p:spPr>
          <a:xfrm>
            <a:off x="4498848" y="4050792"/>
            <a:ext cx="411480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A45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10.15~21. 기관별로 캠페인을 진행합니다.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3977640" y="4581144"/>
            <a:ext cx="329184" cy="329184"/>
          </a:xfrm>
          <a:prstGeom prst="ellipse">
            <a:avLst/>
          </a:prstGeom>
          <a:solidFill>
            <a:srgbClr val="0B7A73"/>
          </a:solidFill>
          <a:ln>
            <a:noFill/>
          </a:ln>
        </p:spPr>
      </p:sp>
      <p:sp>
        <p:nvSpPr>
          <p:cNvPr id="29" name="Text 26"/>
          <p:cNvSpPr/>
          <p:nvPr/>
        </p:nvSpPr>
        <p:spPr>
          <a:xfrm>
            <a:off x="3977640" y="4581144"/>
            <a:ext cx="329184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150" dirty="0"/>
          </a:p>
        </p:txBody>
      </p:sp>
      <p:sp>
        <p:nvSpPr>
          <p:cNvPr id="30" name="Text 27"/>
          <p:cNvSpPr/>
          <p:nvPr/>
        </p:nvSpPr>
        <p:spPr>
          <a:xfrm>
            <a:off x="4498848" y="4562856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1B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실적 제출</a:t>
            </a:r>
            <a:endParaRPr lang="en-US" sz="1250" dirty="0"/>
          </a:p>
        </p:txBody>
      </p:sp>
      <p:sp>
        <p:nvSpPr>
          <p:cNvPr id="31" name="Text 28"/>
          <p:cNvSpPr/>
          <p:nvPr/>
        </p:nvSpPr>
        <p:spPr>
          <a:xfrm>
            <a:off x="4498848" y="4837176"/>
            <a:ext cx="411480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A45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참여 결과는 결과보고서에 수록됩니다.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0" y="6035040"/>
            <a:ext cx="9144000" cy="100584"/>
          </a:xfrm>
          <a:prstGeom prst="rect">
            <a:avLst/>
          </a:prstGeom>
          <a:solidFill>
            <a:srgbClr val="0E9C93"/>
          </a:solidFill>
          <a:ln>
            <a:noFill/>
          </a:ln>
        </p:spPr>
      </p:sp>
      <p:sp>
        <p:nvSpPr>
          <p:cNvPr id="33" name="Shape 30"/>
          <p:cNvSpPr/>
          <p:nvPr/>
        </p:nvSpPr>
        <p:spPr>
          <a:xfrm>
            <a:off x="0" y="6135624"/>
            <a:ext cx="9144000" cy="722376"/>
          </a:xfrm>
          <a:prstGeom prst="rect">
            <a:avLst/>
          </a:prstGeom>
          <a:solidFill>
            <a:srgbClr val="4B2E83"/>
          </a:solidFill>
          <a:ln>
            <a:noFill/>
          </a:ln>
        </p:spPr>
      </p:sp>
      <p:pic>
        <p:nvPicPr>
          <p:cNvPr id="34" name="Image 1" descr="partner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0" y="6327648"/>
            <a:ext cx="4572000" cy="34472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764</Words>
  <Application>Microsoft Office PowerPoint</Application>
  <PresentationFormat>화면 슬라이드 쇼(4:3)</PresentationFormat>
  <Paragraphs>180</Paragraphs>
  <Slides>8</Slides>
  <Notes>8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2" baseType="lpstr">
      <vt:lpstr>맑은 고딕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김숙희</cp:lastModifiedBy>
  <cp:revision>3</cp:revision>
  <dcterms:created xsi:type="dcterms:W3CDTF">2026-08-19T04:23:30Z</dcterms:created>
  <dcterms:modified xsi:type="dcterms:W3CDTF">2026-09-04T00:28:28Z</dcterms:modified>
</cp:coreProperties>
</file>